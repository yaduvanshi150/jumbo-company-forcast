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8288000" cy="10287000"/>
  <p:notesSz cx="6858000" cy="9144000"/>
  <p:embeddedFontLst>
    <p:embeddedFont>
      <p:font typeface="Canva Sans" panose="020B0604020202020204" charset="0"/>
      <p:regular r:id="rId10"/>
    </p:embeddedFont>
    <p:embeddedFont>
      <p:font typeface="Canva Sans Bold" panose="020B0604020202020204" charset="0"/>
      <p:regular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0" d="100"/>
          <a:sy n="60" d="100"/>
        </p:scale>
        <p:origin x="370"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99ACFF"/>
        </a:solidFill>
        <a:effectLst/>
      </p:bgPr>
    </p:bg>
    <p:spTree>
      <p:nvGrpSpPr>
        <p:cNvPr id="1" name=""/>
        <p:cNvGrpSpPr/>
        <p:nvPr/>
      </p:nvGrpSpPr>
      <p:grpSpPr>
        <a:xfrm>
          <a:off x="0" y="0"/>
          <a:ext cx="0" cy="0"/>
          <a:chOff x="0" y="0"/>
          <a:chExt cx="0" cy="0"/>
        </a:xfrm>
      </p:grpSpPr>
      <p:sp>
        <p:nvSpPr>
          <p:cNvPr id="2" name="TextBox 2"/>
          <p:cNvSpPr txBox="1"/>
          <p:nvPr/>
        </p:nvSpPr>
        <p:spPr>
          <a:xfrm>
            <a:off x="0" y="3555364"/>
            <a:ext cx="18288000" cy="1588136"/>
          </a:xfrm>
          <a:prstGeom prst="rect">
            <a:avLst/>
          </a:prstGeom>
        </p:spPr>
        <p:txBody>
          <a:bodyPr lIns="0" tIns="0" rIns="0" bIns="0" rtlCol="0" anchor="t">
            <a:spAutoFit/>
          </a:bodyPr>
          <a:lstStyle/>
          <a:p>
            <a:pPr algn="ctr">
              <a:lnSpc>
                <a:spcPts val="6439"/>
              </a:lnSpc>
              <a:spcBef>
                <a:spcPct val="0"/>
              </a:spcBef>
            </a:pPr>
            <a:r>
              <a:rPr lang="en-US" sz="4599" b="1">
                <a:solidFill>
                  <a:srgbClr val="004AAD"/>
                </a:solidFill>
                <a:latin typeface="Canva Sans Bold"/>
                <a:ea typeface="Canva Sans Bold"/>
                <a:cs typeface="Canva Sans Bold"/>
                <a:sym typeface="Canva Sans Bold"/>
              </a:rPr>
              <a:t>Jumbo &amp; Company Store Performance and Attach Rate Dashboard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288493" y="2515854"/>
            <a:ext cx="3098602" cy="903606"/>
          </a:xfrm>
          <a:prstGeom prst="rect">
            <a:avLst/>
          </a:prstGeom>
        </p:spPr>
        <p:txBody>
          <a:bodyPr lIns="0" tIns="0" rIns="0" bIns="0" rtlCol="0" anchor="t">
            <a:spAutoFit/>
          </a:bodyPr>
          <a:lstStyle/>
          <a:p>
            <a:pPr algn="ctr">
              <a:lnSpc>
                <a:spcPts val="7419"/>
              </a:lnSpc>
              <a:spcBef>
                <a:spcPct val="0"/>
              </a:spcBef>
            </a:pPr>
            <a:r>
              <a:rPr lang="en-US" sz="5299" b="1">
                <a:solidFill>
                  <a:srgbClr val="000000"/>
                </a:solidFill>
                <a:latin typeface="Canva Sans Bold"/>
                <a:ea typeface="Canva Sans Bold"/>
                <a:cs typeface="Canva Sans Bold"/>
                <a:sym typeface="Canva Sans Bold"/>
              </a:rPr>
              <a:t>Overview</a:t>
            </a:r>
          </a:p>
        </p:txBody>
      </p:sp>
      <p:sp>
        <p:nvSpPr>
          <p:cNvPr id="3" name="TextBox 3"/>
          <p:cNvSpPr txBox="1"/>
          <p:nvPr/>
        </p:nvSpPr>
        <p:spPr>
          <a:xfrm>
            <a:off x="1288493" y="3875170"/>
            <a:ext cx="16055714" cy="2174875"/>
          </a:xfrm>
          <a:prstGeom prst="rect">
            <a:avLst/>
          </a:prstGeom>
        </p:spPr>
        <p:txBody>
          <a:bodyPr lIns="0" tIns="0" rIns="0" bIns="0" rtlCol="0" anchor="t">
            <a:spAutoFit/>
          </a:bodyPr>
          <a:lstStyle/>
          <a:p>
            <a:pPr algn="l">
              <a:lnSpc>
                <a:spcPts val="3499"/>
              </a:lnSpc>
              <a:spcBef>
                <a:spcPct val="0"/>
              </a:spcBef>
            </a:pPr>
            <a:r>
              <a:rPr lang="en-US" sz="2499">
                <a:solidFill>
                  <a:srgbClr val="000000"/>
                </a:solidFill>
                <a:latin typeface="Canva Sans"/>
                <a:ea typeface="Canva Sans"/>
                <a:cs typeface="Canva Sans"/>
                <a:sym typeface="Canva Sans"/>
              </a:rPr>
              <a:t>This dashboard provides a comprehensive analysis of store performance across regions and categories, focusing on attach rates over recent months, forecasted performance, and key trends. It enables identification of top and underperforming branches, seasonal patterns, and category-level insights to drive targeted improvements and strategic planning.</a:t>
            </a:r>
          </a:p>
          <a:p>
            <a:pPr algn="l">
              <a:lnSpc>
                <a:spcPts val="3499"/>
              </a:lnSpc>
              <a:spcBef>
                <a:spcPct val="0"/>
              </a:spcBef>
            </a:pPr>
            <a:endParaRPr lang="en-US" sz="2499">
              <a:solidFill>
                <a:srgbClr val="000000"/>
              </a:solidFill>
              <a:latin typeface="Canva Sans"/>
              <a:ea typeface="Canva Sans"/>
              <a:cs typeface="Canva Sans"/>
              <a:sym typeface="Canva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75449" y="1362506"/>
            <a:ext cx="5124688" cy="903606"/>
          </a:xfrm>
          <a:prstGeom prst="rect">
            <a:avLst/>
          </a:prstGeom>
        </p:spPr>
        <p:txBody>
          <a:bodyPr lIns="0" tIns="0" rIns="0" bIns="0" rtlCol="0" anchor="t">
            <a:spAutoFit/>
          </a:bodyPr>
          <a:lstStyle/>
          <a:p>
            <a:pPr algn="ctr">
              <a:lnSpc>
                <a:spcPts val="7419"/>
              </a:lnSpc>
              <a:spcBef>
                <a:spcPct val="0"/>
              </a:spcBef>
            </a:pPr>
            <a:r>
              <a:rPr lang="en-US" sz="5299" b="1">
                <a:solidFill>
                  <a:srgbClr val="000000"/>
                </a:solidFill>
                <a:latin typeface="Canva Sans Bold"/>
                <a:ea typeface="Canva Sans Bold"/>
                <a:cs typeface="Canva Sans Bold"/>
                <a:sym typeface="Canva Sans Bold"/>
              </a:rPr>
              <a:t>Overall Insights</a:t>
            </a:r>
          </a:p>
        </p:txBody>
      </p:sp>
      <p:sp>
        <p:nvSpPr>
          <p:cNvPr id="3" name="TextBox 3"/>
          <p:cNvSpPr txBox="1"/>
          <p:nvPr/>
        </p:nvSpPr>
        <p:spPr>
          <a:xfrm>
            <a:off x="275449" y="2535799"/>
            <a:ext cx="16055714" cy="6994526"/>
          </a:xfrm>
          <a:prstGeom prst="rect">
            <a:avLst/>
          </a:prstGeom>
        </p:spPr>
        <p:txBody>
          <a:bodyPr lIns="0" tIns="0" rIns="0" bIns="0" rtlCol="0" anchor="t">
            <a:spAutoFit/>
          </a:bodyPr>
          <a:lstStyle/>
          <a:p>
            <a:pPr marL="539741" lvl="1" indent="-269871" algn="l">
              <a:lnSpc>
                <a:spcPts val="3499"/>
              </a:lnSpc>
              <a:spcBef>
                <a:spcPct val="0"/>
              </a:spcBef>
              <a:buFont typeface="Arial"/>
              <a:buChar char="•"/>
            </a:pPr>
            <a:r>
              <a:rPr lang="en-US" sz="2499">
                <a:solidFill>
                  <a:srgbClr val="000000"/>
                </a:solidFill>
                <a:latin typeface="Canva Sans"/>
                <a:ea typeface="Canva Sans"/>
                <a:cs typeface="Canva Sans"/>
                <a:sym typeface="Canva Sans"/>
              </a:rPr>
              <a:t>The Needs Improvement category dominates store distribution, representing the largest share with 102 stores, while Good has 58 and Excellent only 3 stores, indicating most locations underperform or need improvement.</a:t>
            </a:r>
          </a:p>
          <a:p>
            <a:pPr marL="539741" lvl="1" indent="-269871" algn="l">
              <a:lnSpc>
                <a:spcPts val="3499"/>
              </a:lnSpc>
              <a:spcBef>
                <a:spcPct val="0"/>
              </a:spcBef>
              <a:buFont typeface="Arial"/>
              <a:buChar char="•"/>
            </a:pPr>
            <a:r>
              <a:rPr lang="en-US" sz="2499">
                <a:solidFill>
                  <a:srgbClr val="000000"/>
                </a:solidFill>
                <a:latin typeface="Canva Sans"/>
                <a:ea typeface="Canva Sans"/>
                <a:cs typeface="Canva Sans"/>
                <a:sym typeface="Canva Sans"/>
              </a:rPr>
              <a:t>In performance terms, Excellent stores have the highest average attach rate at 54.1%, slightly above their forecast of 52.7%, suggesting strong actual performance relative to expectations.</a:t>
            </a:r>
          </a:p>
          <a:p>
            <a:pPr marL="539741" lvl="1" indent="-269871" algn="l">
              <a:lnSpc>
                <a:spcPts val="3499"/>
              </a:lnSpc>
              <a:spcBef>
                <a:spcPct val="0"/>
              </a:spcBef>
              <a:buFont typeface="Arial"/>
              <a:buChar char="•"/>
            </a:pPr>
            <a:r>
              <a:rPr lang="en-US" sz="2499">
                <a:solidFill>
                  <a:srgbClr val="000000"/>
                </a:solidFill>
                <a:latin typeface="Canva Sans"/>
                <a:ea typeface="Canva Sans"/>
                <a:cs typeface="Canva Sans"/>
                <a:sym typeface="Canva Sans"/>
              </a:rPr>
              <a:t>Both Good (27.2%) and Needs Improvement (11.8%) attach rates underperform vs their forecasts (Good: 31.6%; Needs Improvement: 13.7%), with Needs Improvement the lowest among the three categories.</a:t>
            </a:r>
          </a:p>
          <a:p>
            <a:pPr marL="539741" lvl="1" indent="-269871" algn="l">
              <a:lnSpc>
                <a:spcPts val="3499"/>
              </a:lnSpc>
              <a:spcBef>
                <a:spcPct val="0"/>
              </a:spcBef>
              <a:buFont typeface="Arial"/>
              <a:buChar char="•"/>
            </a:pPr>
            <a:r>
              <a:rPr lang="en-US" sz="2499">
                <a:solidFill>
                  <a:srgbClr val="000000"/>
                </a:solidFill>
                <a:latin typeface="Canva Sans"/>
                <a:ea typeface="Canva Sans"/>
                <a:cs typeface="Canva Sans"/>
                <a:sym typeface="Canva Sans"/>
              </a:rPr>
              <a:t>Pune is the standout branch, delivering the strongest and most consistent attach-rate performance, peaking at 36% in November and ending December at 29%.</a:t>
            </a:r>
          </a:p>
          <a:p>
            <a:pPr marL="539741" lvl="1" indent="-269871" algn="l">
              <a:lnSpc>
                <a:spcPts val="3499"/>
              </a:lnSpc>
              <a:spcBef>
                <a:spcPct val="0"/>
              </a:spcBef>
              <a:buFont typeface="Arial"/>
              <a:buChar char="•"/>
            </a:pPr>
            <a:r>
              <a:rPr lang="en-US" sz="2499">
                <a:solidFill>
                  <a:srgbClr val="000000"/>
                </a:solidFill>
                <a:latin typeface="Canva Sans"/>
                <a:ea typeface="Canva Sans"/>
                <a:cs typeface="Canva Sans"/>
                <a:sym typeface="Canva Sans"/>
              </a:rPr>
              <a:t>Delhi NCR shows steady improvement from 19% in August to 28% in November/December, while Telangana and Gujarat exhibit notable late-year spikes (Telangana to 19% in November; Gujarat to 19% in December).</a:t>
            </a:r>
          </a:p>
          <a:p>
            <a:pPr marL="539741" lvl="1" indent="-269871" algn="l">
              <a:lnSpc>
                <a:spcPts val="3499"/>
              </a:lnSpc>
              <a:spcBef>
                <a:spcPct val="0"/>
              </a:spcBef>
              <a:buFont typeface="Arial"/>
              <a:buChar char="•"/>
            </a:pPr>
            <a:r>
              <a:rPr lang="en-US" sz="2499">
                <a:solidFill>
                  <a:srgbClr val="000000"/>
                </a:solidFill>
                <a:latin typeface="Canva Sans"/>
                <a:ea typeface="Canva Sans"/>
                <a:cs typeface="Canva Sans"/>
                <a:sym typeface="Canva Sans"/>
              </a:rPr>
              <a:t>Mumbai and Thane display more modest, stable attach rates, with Mumbai peaking at 22% in October and Thane reaching the mid-teens by December.</a:t>
            </a:r>
          </a:p>
          <a:p>
            <a:pPr algn="l">
              <a:lnSpc>
                <a:spcPts val="3499"/>
              </a:lnSpc>
              <a:spcBef>
                <a:spcPct val="0"/>
              </a:spcBef>
            </a:pPr>
            <a:endParaRPr lang="en-US" sz="2499">
              <a:solidFill>
                <a:srgbClr val="000000"/>
              </a:solidFill>
              <a:latin typeface="Canva Sans"/>
              <a:ea typeface="Canva Sans"/>
              <a:cs typeface="Canva Sans"/>
              <a:sym typeface="Canva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26564" y="586573"/>
            <a:ext cx="17891822" cy="8506555"/>
          </a:xfrm>
          <a:custGeom>
            <a:avLst/>
            <a:gdLst/>
            <a:ahLst/>
            <a:cxnLst/>
            <a:rect l="l" t="t" r="r" b="b"/>
            <a:pathLst>
              <a:path w="17891822" h="8506555">
                <a:moveTo>
                  <a:pt x="0" y="0"/>
                </a:moveTo>
                <a:lnTo>
                  <a:pt x="17891822" y="0"/>
                </a:lnTo>
                <a:lnTo>
                  <a:pt x="17891822" y="8506555"/>
                </a:lnTo>
                <a:lnTo>
                  <a:pt x="0" y="8506555"/>
                </a:lnTo>
                <a:lnTo>
                  <a:pt x="0" y="0"/>
                </a:lnTo>
                <a:close/>
              </a:path>
            </a:pathLst>
          </a:custGeom>
          <a:blipFill>
            <a:blip r:embed="rId2"/>
            <a:stretch>
              <a:fillRect l="-3879" r="-3879" b="-218"/>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04991" y="1997500"/>
            <a:ext cx="7930370" cy="5324677"/>
          </a:xfrm>
          <a:custGeom>
            <a:avLst/>
            <a:gdLst/>
            <a:ahLst/>
            <a:cxnLst/>
            <a:rect l="l" t="t" r="r" b="b"/>
            <a:pathLst>
              <a:path w="7930370" h="5324677">
                <a:moveTo>
                  <a:pt x="0" y="0"/>
                </a:moveTo>
                <a:lnTo>
                  <a:pt x="7930371" y="0"/>
                </a:lnTo>
                <a:lnTo>
                  <a:pt x="7930371" y="5324677"/>
                </a:lnTo>
                <a:lnTo>
                  <a:pt x="0" y="5324677"/>
                </a:lnTo>
                <a:lnTo>
                  <a:pt x="0" y="0"/>
                </a:lnTo>
                <a:close/>
              </a:path>
            </a:pathLst>
          </a:custGeom>
          <a:blipFill>
            <a:blip r:embed="rId2"/>
            <a:stretch>
              <a:fillRect/>
            </a:stretch>
          </a:blipFill>
        </p:spPr>
      </p:sp>
      <p:sp>
        <p:nvSpPr>
          <p:cNvPr id="3" name="TextBox 3"/>
          <p:cNvSpPr txBox="1"/>
          <p:nvPr/>
        </p:nvSpPr>
        <p:spPr>
          <a:xfrm>
            <a:off x="8570128" y="2968206"/>
            <a:ext cx="9018335" cy="4312513"/>
          </a:xfrm>
          <a:prstGeom prst="rect">
            <a:avLst/>
          </a:prstGeom>
        </p:spPr>
        <p:txBody>
          <a:bodyPr lIns="0" tIns="0" rIns="0" bIns="0" rtlCol="0" anchor="t">
            <a:spAutoFit/>
          </a:bodyPr>
          <a:lstStyle/>
          <a:p>
            <a:pPr marL="667350" lvl="1" indent="-333675" algn="ctr">
              <a:lnSpc>
                <a:spcPts val="4327"/>
              </a:lnSpc>
              <a:spcBef>
                <a:spcPct val="0"/>
              </a:spcBef>
              <a:buFont typeface="Arial"/>
              <a:buChar char="•"/>
            </a:pPr>
            <a:r>
              <a:rPr lang="en-US" sz="3091">
                <a:solidFill>
                  <a:srgbClr val="000000"/>
                </a:solidFill>
                <a:latin typeface="Canva Sans"/>
                <a:ea typeface="Canva Sans"/>
                <a:cs typeface="Canva Sans"/>
                <a:sym typeface="Canva Sans"/>
              </a:rPr>
              <a:t>Needs Improvement category represents the largest share (102 stores), comprising the majority of stores</a:t>
            </a:r>
          </a:p>
          <a:p>
            <a:pPr marL="667350" lvl="1" indent="-333675" algn="ctr">
              <a:lnSpc>
                <a:spcPts val="4327"/>
              </a:lnSpc>
              <a:spcBef>
                <a:spcPct val="0"/>
              </a:spcBef>
              <a:buFont typeface="Arial"/>
              <a:buChar char="•"/>
            </a:pPr>
            <a:r>
              <a:rPr lang="en-US" sz="3091">
                <a:solidFill>
                  <a:srgbClr val="000000"/>
                </a:solidFill>
                <a:latin typeface="Canva Sans"/>
                <a:ea typeface="Canva Sans"/>
                <a:cs typeface="Canva Sans"/>
                <a:sym typeface="Canva Sans"/>
              </a:rPr>
              <a:t>Good category is the second largest (58 stores) while Excellent is very small (3 stores), indicating limited top-performing locations</a:t>
            </a:r>
          </a:p>
          <a:p>
            <a:pPr algn="ctr">
              <a:lnSpc>
                <a:spcPts val="4327"/>
              </a:lnSpc>
              <a:spcBef>
                <a:spcPct val="0"/>
              </a:spcBef>
            </a:pPr>
            <a:endParaRPr lang="en-US" sz="3091">
              <a:solidFill>
                <a:srgbClr val="000000"/>
              </a:solidFill>
              <a:latin typeface="Canva Sans"/>
              <a:ea typeface="Canva Sans"/>
              <a:cs typeface="Canva Sans"/>
              <a:sym typeface="Canva Sans"/>
            </a:endParaRPr>
          </a:p>
        </p:txBody>
      </p:sp>
      <p:sp>
        <p:nvSpPr>
          <p:cNvPr id="4" name="TextBox 4"/>
          <p:cNvSpPr txBox="1"/>
          <p:nvPr/>
        </p:nvSpPr>
        <p:spPr>
          <a:xfrm>
            <a:off x="8421309" y="1892725"/>
            <a:ext cx="9018335" cy="903606"/>
          </a:xfrm>
          <a:prstGeom prst="rect">
            <a:avLst/>
          </a:prstGeom>
        </p:spPr>
        <p:txBody>
          <a:bodyPr lIns="0" tIns="0" rIns="0" bIns="0" rtlCol="0" anchor="t">
            <a:spAutoFit/>
          </a:bodyPr>
          <a:lstStyle/>
          <a:p>
            <a:pPr algn="l">
              <a:lnSpc>
                <a:spcPts val="7419"/>
              </a:lnSpc>
              <a:spcBef>
                <a:spcPct val="0"/>
              </a:spcBef>
            </a:pPr>
            <a:r>
              <a:rPr lang="en-US" sz="5299" b="1">
                <a:solidFill>
                  <a:srgbClr val="000000"/>
                </a:solidFill>
                <a:latin typeface="Canva Sans Bold"/>
                <a:ea typeface="Canva Sans Bold"/>
                <a:cs typeface="Canva Sans Bold"/>
                <a:sym typeface="Canva Sans Bold"/>
              </a:rPr>
              <a:t>Key Insights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274019" y="5343795"/>
            <a:ext cx="11357066" cy="4256574"/>
          </a:xfrm>
          <a:custGeom>
            <a:avLst/>
            <a:gdLst/>
            <a:ahLst/>
            <a:cxnLst/>
            <a:rect l="l" t="t" r="r" b="b"/>
            <a:pathLst>
              <a:path w="11357066" h="4256574">
                <a:moveTo>
                  <a:pt x="0" y="0"/>
                </a:moveTo>
                <a:lnTo>
                  <a:pt x="11357066" y="0"/>
                </a:lnTo>
                <a:lnTo>
                  <a:pt x="11357066" y="4256574"/>
                </a:lnTo>
                <a:lnTo>
                  <a:pt x="0" y="4256574"/>
                </a:lnTo>
                <a:lnTo>
                  <a:pt x="0" y="0"/>
                </a:lnTo>
                <a:close/>
              </a:path>
            </a:pathLst>
          </a:custGeom>
          <a:blipFill>
            <a:blip r:embed="rId2"/>
            <a:stretch>
              <a:fillRect l="-95" t="-246" r="-95"/>
            </a:stretch>
          </a:blipFill>
        </p:spPr>
      </p:sp>
      <p:sp>
        <p:nvSpPr>
          <p:cNvPr id="3" name="TextBox 3"/>
          <p:cNvSpPr txBox="1"/>
          <p:nvPr/>
        </p:nvSpPr>
        <p:spPr>
          <a:xfrm>
            <a:off x="0" y="2730770"/>
            <a:ext cx="17905104" cy="2613025"/>
          </a:xfrm>
          <a:prstGeom prst="rect">
            <a:avLst/>
          </a:prstGeom>
        </p:spPr>
        <p:txBody>
          <a:bodyPr lIns="0" tIns="0" rIns="0" bIns="0" rtlCol="0" anchor="t">
            <a:spAutoFit/>
          </a:bodyPr>
          <a:lstStyle/>
          <a:p>
            <a:pPr marL="539749" lvl="1" indent="-269875" algn="ctr">
              <a:lnSpc>
                <a:spcPts val="3499"/>
              </a:lnSpc>
              <a:buFont typeface="Arial"/>
              <a:buChar char="•"/>
            </a:pPr>
            <a:r>
              <a:rPr lang="en-US" sz="2499">
                <a:solidFill>
                  <a:srgbClr val="000000"/>
                </a:solidFill>
                <a:latin typeface="Canva Sans"/>
                <a:ea typeface="Canva Sans"/>
                <a:cs typeface="Canva Sans"/>
                <a:sym typeface="Canva Sans"/>
              </a:rPr>
              <a:t>Pune shows the strongest and most consistent performance, peaking at 36% in Nov and finishing Dec at 29%</a:t>
            </a:r>
          </a:p>
          <a:p>
            <a:pPr marL="539749" lvl="1" indent="-269875" algn="ctr">
              <a:lnSpc>
                <a:spcPts val="3499"/>
              </a:lnSpc>
              <a:spcBef>
                <a:spcPct val="0"/>
              </a:spcBef>
              <a:buFont typeface="Arial"/>
              <a:buChar char="•"/>
            </a:pPr>
            <a:r>
              <a:rPr lang="en-US" sz="2499">
                <a:solidFill>
                  <a:srgbClr val="000000"/>
                </a:solidFill>
                <a:latin typeface="Canva Sans"/>
                <a:ea typeface="Canva Sans"/>
                <a:cs typeface="Canva Sans"/>
                <a:sym typeface="Canva Sans"/>
              </a:rPr>
              <a:t>Delhi_Ncr also improves steadily from 19% in Aug to 28% in Nov/Dec, while Telangana and Gujarat show notable late spikes (Telangana to 19% in Nov, Gujarat to 19% in Dec)</a:t>
            </a:r>
          </a:p>
          <a:p>
            <a:pPr marL="539749" lvl="1" indent="-269875" algn="ctr">
              <a:lnSpc>
                <a:spcPts val="3499"/>
              </a:lnSpc>
              <a:spcBef>
                <a:spcPct val="0"/>
              </a:spcBef>
              <a:buFont typeface="Arial"/>
              <a:buChar char="•"/>
            </a:pPr>
            <a:r>
              <a:rPr lang="en-US" sz="2499">
                <a:solidFill>
                  <a:srgbClr val="000000"/>
                </a:solidFill>
                <a:latin typeface="Canva Sans"/>
                <a:ea typeface="Canva Sans"/>
                <a:cs typeface="Canva Sans"/>
                <a:sym typeface="Canva Sans"/>
              </a:rPr>
              <a:t>Mumbai and Thane have modest, relatively stable attach rates with Mumbai peaking at 22% in Oct and Thane improving to mid-teens by Dec</a:t>
            </a:r>
          </a:p>
          <a:p>
            <a:pPr algn="ctr">
              <a:lnSpc>
                <a:spcPts val="3499"/>
              </a:lnSpc>
              <a:spcBef>
                <a:spcPct val="0"/>
              </a:spcBef>
            </a:pPr>
            <a:endParaRPr lang="en-US" sz="2499">
              <a:solidFill>
                <a:srgbClr val="000000"/>
              </a:solidFill>
              <a:latin typeface="Canva Sans"/>
              <a:ea typeface="Canva Sans"/>
              <a:cs typeface="Canva Sans"/>
              <a:sym typeface="Canva Sans"/>
            </a:endParaRPr>
          </a:p>
        </p:txBody>
      </p:sp>
      <p:sp>
        <p:nvSpPr>
          <p:cNvPr id="4" name="TextBox 4"/>
          <p:cNvSpPr txBox="1"/>
          <p:nvPr/>
        </p:nvSpPr>
        <p:spPr>
          <a:xfrm>
            <a:off x="6969804" y="1312813"/>
            <a:ext cx="3965496" cy="903606"/>
          </a:xfrm>
          <a:prstGeom prst="rect">
            <a:avLst/>
          </a:prstGeom>
        </p:spPr>
        <p:txBody>
          <a:bodyPr lIns="0" tIns="0" rIns="0" bIns="0" rtlCol="0" anchor="t">
            <a:spAutoFit/>
          </a:bodyPr>
          <a:lstStyle/>
          <a:p>
            <a:pPr algn="ctr">
              <a:lnSpc>
                <a:spcPts val="7419"/>
              </a:lnSpc>
              <a:spcBef>
                <a:spcPct val="0"/>
              </a:spcBef>
            </a:pPr>
            <a:r>
              <a:rPr lang="en-US" sz="5299" b="1">
                <a:solidFill>
                  <a:srgbClr val="000000"/>
                </a:solidFill>
                <a:latin typeface="Canva Sans Bold"/>
                <a:ea typeface="Canva Sans Bold"/>
                <a:cs typeface="Canva Sans Bold"/>
                <a:sym typeface="Canva Sans Bold"/>
              </a:rPr>
              <a:t>Key Insights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14533" y="4025690"/>
            <a:ext cx="16658934" cy="3685789"/>
          </a:xfrm>
          <a:custGeom>
            <a:avLst/>
            <a:gdLst/>
            <a:ahLst/>
            <a:cxnLst/>
            <a:rect l="l" t="t" r="r" b="b"/>
            <a:pathLst>
              <a:path w="16658934" h="3685789">
                <a:moveTo>
                  <a:pt x="0" y="0"/>
                </a:moveTo>
                <a:lnTo>
                  <a:pt x="16658934" y="0"/>
                </a:lnTo>
                <a:lnTo>
                  <a:pt x="16658934" y="3685789"/>
                </a:lnTo>
                <a:lnTo>
                  <a:pt x="0" y="3685789"/>
                </a:lnTo>
                <a:lnTo>
                  <a:pt x="0" y="0"/>
                </a:lnTo>
                <a:close/>
              </a:path>
            </a:pathLst>
          </a:custGeom>
          <a:blipFill>
            <a:blip r:embed="rId2"/>
            <a:stretch>
              <a:fillRect/>
            </a:stretch>
          </a:blipFill>
        </p:spPr>
      </p:sp>
      <p:sp>
        <p:nvSpPr>
          <p:cNvPr id="3" name="TextBox 3"/>
          <p:cNvSpPr txBox="1"/>
          <p:nvPr/>
        </p:nvSpPr>
        <p:spPr>
          <a:xfrm>
            <a:off x="1028700" y="1449316"/>
            <a:ext cx="16658934" cy="1837056"/>
          </a:xfrm>
          <a:prstGeom prst="rect">
            <a:avLst/>
          </a:prstGeom>
        </p:spPr>
        <p:txBody>
          <a:bodyPr lIns="0" tIns="0" rIns="0" bIns="0" rtlCol="0" anchor="t">
            <a:spAutoFit/>
          </a:bodyPr>
          <a:lstStyle/>
          <a:p>
            <a:pPr algn="ctr">
              <a:lnSpc>
                <a:spcPts val="7419"/>
              </a:lnSpc>
              <a:spcBef>
                <a:spcPct val="0"/>
              </a:spcBef>
            </a:pPr>
            <a:r>
              <a:rPr lang="en-US" sz="5299" b="1">
                <a:solidFill>
                  <a:srgbClr val="000000"/>
                </a:solidFill>
                <a:latin typeface="Canva Sans Bold"/>
                <a:ea typeface="Canva Sans Bold"/>
                <a:cs typeface="Canva Sans Bold"/>
                <a:sym typeface="Canva Sans Bold"/>
              </a:rPr>
              <a:t>TOP 5 Stores by December Attach Rate &amp; Avg Attach Rate vs Jan Forcast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792022" y="2552752"/>
            <a:ext cx="14467278" cy="4615858"/>
          </a:xfrm>
          <a:prstGeom prst="rect">
            <a:avLst/>
          </a:prstGeom>
        </p:spPr>
        <p:txBody>
          <a:bodyPr lIns="0" tIns="0" rIns="0" bIns="0" rtlCol="0" anchor="t">
            <a:spAutoFit/>
          </a:bodyPr>
          <a:lstStyle/>
          <a:p>
            <a:pPr algn="l">
              <a:lnSpc>
                <a:spcPts val="4592"/>
              </a:lnSpc>
            </a:pPr>
            <a:r>
              <a:rPr lang="en-US" sz="3280">
                <a:solidFill>
                  <a:srgbClr val="000000"/>
                </a:solidFill>
                <a:latin typeface="Canva Sans"/>
                <a:ea typeface="Canva Sans"/>
                <a:cs typeface="Canva Sans"/>
                <a:sym typeface="Canva Sans"/>
              </a:rPr>
              <a:t>• High performers achieve 40–60% attach rates consistently</a:t>
            </a:r>
          </a:p>
          <a:p>
            <a:pPr algn="l">
              <a:lnSpc>
                <a:spcPts val="4592"/>
              </a:lnSpc>
            </a:pPr>
            <a:r>
              <a:rPr lang="en-US" sz="3280">
                <a:solidFill>
                  <a:srgbClr val="000000"/>
                </a:solidFill>
                <a:latin typeface="Canva Sans"/>
                <a:ea typeface="Canva Sans"/>
                <a:cs typeface="Canva Sans"/>
                <a:sym typeface="Canva Sans"/>
              </a:rPr>
              <a:t>• Jan Forecast shows strong upside in select NCR, Pune &amp; Mumbai stores</a:t>
            </a:r>
          </a:p>
          <a:p>
            <a:pPr algn="l">
              <a:lnSpc>
                <a:spcPts val="4592"/>
              </a:lnSpc>
            </a:pPr>
            <a:r>
              <a:rPr lang="en-US" sz="3280">
                <a:solidFill>
                  <a:srgbClr val="000000"/>
                </a:solidFill>
                <a:latin typeface="Canva Sans"/>
                <a:ea typeface="Canva Sans"/>
                <a:cs typeface="Canva Sans"/>
                <a:sym typeface="Canva Sans"/>
              </a:rPr>
              <a:t>• Immediate focus required on zero/low attach locations</a:t>
            </a:r>
          </a:p>
          <a:p>
            <a:pPr algn="l">
              <a:lnSpc>
                <a:spcPts val="4592"/>
              </a:lnSpc>
            </a:pPr>
            <a:endParaRPr lang="en-US" sz="3280">
              <a:solidFill>
                <a:srgbClr val="000000"/>
              </a:solidFill>
              <a:latin typeface="Canva Sans"/>
              <a:ea typeface="Canva Sans"/>
              <a:cs typeface="Canva Sans"/>
              <a:sym typeface="Canva Sans"/>
            </a:endParaRPr>
          </a:p>
          <a:p>
            <a:pPr algn="l">
              <a:lnSpc>
                <a:spcPts val="4592"/>
              </a:lnSpc>
            </a:pPr>
            <a:r>
              <a:rPr lang="en-US" sz="3280">
                <a:solidFill>
                  <a:srgbClr val="000000"/>
                </a:solidFill>
                <a:latin typeface="Canva Sans"/>
                <a:ea typeface="Canva Sans"/>
                <a:cs typeface="Canva Sans"/>
                <a:sym typeface="Canva Sans"/>
              </a:rPr>
              <a:t>Recommended Actions:</a:t>
            </a:r>
          </a:p>
          <a:p>
            <a:pPr algn="l">
              <a:lnSpc>
                <a:spcPts val="4592"/>
              </a:lnSpc>
            </a:pPr>
            <a:r>
              <a:rPr lang="en-US" sz="3280">
                <a:solidFill>
                  <a:srgbClr val="000000"/>
                </a:solidFill>
                <a:latin typeface="Canva Sans"/>
                <a:ea typeface="Canva Sans"/>
                <a:cs typeface="Canva Sans"/>
                <a:sym typeface="Canva Sans"/>
              </a:rPr>
              <a:t>• Replicate top-store sales scripts</a:t>
            </a:r>
          </a:p>
          <a:p>
            <a:pPr algn="l">
              <a:lnSpc>
                <a:spcPts val="4592"/>
              </a:lnSpc>
            </a:pPr>
            <a:r>
              <a:rPr lang="en-US" sz="3280">
                <a:solidFill>
                  <a:srgbClr val="000000"/>
                </a:solidFill>
                <a:latin typeface="Canva Sans"/>
                <a:ea typeface="Canva Sans"/>
                <a:cs typeface="Canva Sans"/>
                <a:sym typeface="Canva Sans"/>
              </a:rPr>
              <a:t>• Weekly attach tracking &amp; accountability</a:t>
            </a:r>
          </a:p>
          <a:p>
            <a:pPr algn="l">
              <a:lnSpc>
                <a:spcPts val="4592"/>
              </a:lnSpc>
            </a:pPr>
            <a:r>
              <a:rPr lang="en-US" sz="3280">
                <a:solidFill>
                  <a:srgbClr val="000000"/>
                </a:solidFill>
                <a:latin typeface="Canva Sans"/>
                <a:ea typeface="Canva Sans"/>
                <a:cs typeface="Canva Sans"/>
                <a:sym typeface="Canva Sans"/>
              </a:rPr>
              <a:t>• Target-based incentives for Jan–Feb</a:t>
            </a:r>
          </a:p>
        </p:txBody>
      </p:sp>
      <p:sp>
        <p:nvSpPr>
          <p:cNvPr id="3" name="TextBox 3"/>
          <p:cNvSpPr txBox="1"/>
          <p:nvPr/>
        </p:nvSpPr>
        <p:spPr>
          <a:xfrm>
            <a:off x="2286000" y="495300"/>
            <a:ext cx="11277600" cy="903606"/>
          </a:xfrm>
          <a:prstGeom prst="rect">
            <a:avLst/>
          </a:prstGeom>
        </p:spPr>
        <p:txBody>
          <a:bodyPr wrap="square" lIns="0" tIns="0" rIns="0" bIns="0" rtlCol="0" anchor="t">
            <a:spAutoFit/>
          </a:bodyPr>
          <a:lstStyle/>
          <a:p>
            <a:pPr algn="ctr">
              <a:lnSpc>
                <a:spcPts val="7419"/>
              </a:lnSpc>
              <a:spcBef>
                <a:spcPct val="0"/>
              </a:spcBef>
            </a:pPr>
            <a:r>
              <a:rPr lang="en-US" sz="5299" b="1" dirty="0">
                <a:solidFill>
                  <a:srgbClr val="000000"/>
                </a:solidFill>
                <a:latin typeface="Canva Sans Bold"/>
                <a:ea typeface="Canva Sans Bold"/>
                <a:cs typeface="Canva Sans Bold"/>
                <a:sym typeface="Canva Sans Bold"/>
              </a:rPr>
              <a:t>Key Takeaways &amp; Action Plan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464</Words>
  <Application>Microsoft Office PowerPoint</Application>
  <PresentationFormat>Custom</PresentationFormat>
  <Paragraphs>27</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Canva Sans</vt:lpstr>
      <vt:lpstr>Canva Sans Bold</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Store Performance and Attach Rate Dashboard</dc:title>
  <cp:lastModifiedBy>YADAV NIKHIL</cp:lastModifiedBy>
  <cp:revision>2</cp:revision>
  <dcterms:created xsi:type="dcterms:W3CDTF">2006-08-16T00:00:00Z</dcterms:created>
  <dcterms:modified xsi:type="dcterms:W3CDTF">2025-12-16T18:23:35Z</dcterms:modified>
  <dc:identifier>DAG7sXopNTQ</dc:identifier>
</cp:coreProperties>
</file>